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6" r:id="rId3"/>
    <p:sldId id="277" r:id="rId4"/>
    <p:sldId id="278" r:id="rId5"/>
    <p:sldId id="279" r:id="rId6"/>
    <p:sldId id="280" r:id="rId7"/>
    <p:sldId id="264" r:id="rId8"/>
    <p:sldId id="265" r:id="rId9"/>
    <p:sldId id="266" r:id="rId10"/>
    <p:sldId id="267" r:id="rId11"/>
    <p:sldId id="271" r:id="rId12"/>
    <p:sldId id="272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5F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072" autoAdjust="0"/>
  </p:normalViewPr>
  <p:slideViewPr>
    <p:cSldViewPr snapToGrid="0" snapToObjects="1">
      <p:cViewPr varScale="1">
        <p:scale>
          <a:sx n="77" d="100"/>
          <a:sy n="77" d="100"/>
        </p:scale>
        <p:origin x="88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06556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Sayın jüri üyeleri, Trakya Üniversitesi Bilgisayar Mühendisliği Bölümü BLM421 Proje II kapsamında geliştirdiğimiz Vaveyla projesini sunacağız. Vaveyla, pastane sipariş ekosistemini dijitalleştiren dört rollü entegre bir mobil platformdur.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Pastane paneli sipariş, menü ve operasyon yönetimini tek arayüzde sunar.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Kurye paneli görev yönetimi, rota takibi ve müşteri iletişimini sağlar.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Admin paneli platform genelinde yönetim, finans ve moderasyon sağlar.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Veritabanı Microsoft SQL Server üzerinde ilişkisel modelle tasarlanmıştır. E-R diyagramında Users tablosu merkezde yer alır; Restaurants, MenuItems, CustomerOrders, Coupons, Campaigns ve CourierLocationLogs tabloları arasındaki tüm ilişkiler görülmektedir.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Testler başarılı; yoğun yükte kısa süreli gecikme gözlemlendi.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 katılımcı, memnuniyet 4,15/5, NPS +40, %90 ürün listeleme kullanımı.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Anket geri bildirimlerinde en çok talep edilen geliştirmeler.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Vaveyla hedeflerine ulaşmış; test ve anket sonuçları olumlu değerlendirilmiştir. Dinlediğiniz için teşekkür ederiz.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EB5F73"/>
              </a:solidFill>
            </a:endParaRP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2100" y="475488"/>
            <a:ext cx="1417320" cy="1417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965960"/>
            <a:ext cx="1069848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 dirty="0">
                <a:solidFill>
                  <a:srgbClr val="1B2A4A"/>
                </a:solidFill>
                <a:latin typeface="Calibri"/>
              </a:rPr>
              <a:t>TRAKYA ÜNİVERSİTESİ</a:t>
            </a:r>
          </a:p>
          <a:p>
            <a:pPr algn="ctr"/>
            <a:r>
              <a:rPr sz="1500" b="0" dirty="0" err="1">
                <a:solidFill>
                  <a:srgbClr val="5A6A7A"/>
                </a:solidFill>
                <a:latin typeface="Calibri"/>
              </a:rPr>
              <a:t>Mühendislik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Fakültesi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·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Bilgisayar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Mühendisliği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Bölümü</a:t>
            </a:r>
            <a:endParaRPr sz="1500" b="0" dirty="0">
              <a:solidFill>
                <a:srgbClr val="5A6A7A"/>
              </a:solidFill>
              <a:latin typeface="Calibri"/>
            </a:endParaRPr>
          </a:p>
          <a:p>
            <a:pPr algn="ctr"/>
            <a:r>
              <a:rPr sz="1500" b="0" dirty="0">
                <a:solidFill>
                  <a:srgbClr val="5A6A7A"/>
                </a:solidFill>
                <a:latin typeface="Calibri"/>
              </a:rPr>
              <a:t>BLM421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Proje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II –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Bitirme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Projesi</a:t>
            </a:r>
            <a:r>
              <a:rPr sz="1500" b="0" dirty="0">
                <a:solidFill>
                  <a:srgbClr val="5A6A7A"/>
                </a:solidFill>
                <a:latin typeface="Calibri"/>
              </a:rPr>
              <a:t> </a:t>
            </a:r>
            <a:r>
              <a:rPr sz="1500" b="0" dirty="0" err="1">
                <a:solidFill>
                  <a:srgbClr val="5A6A7A"/>
                </a:solidFill>
                <a:latin typeface="Calibri"/>
              </a:rPr>
              <a:t>Sunumu</a:t>
            </a:r>
            <a:endParaRPr sz="1500" b="0" dirty="0">
              <a:solidFill>
                <a:srgbClr val="5A6A7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21162" y="3063240"/>
            <a:ext cx="4319195" cy="11079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 dirty="0">
                <a:solidFill>
                  <a:srgbClr val="EB5F73"/>
                </a:solidFill>
                <a:latin typeface="Calibri"/>
              </a:rPr>
              <a:t>Vaveyla</a:t>
            </a:r>
          </a:p>
          <a:p>
            <a:pPr algn="ctr"/>
            <a:r>
              <a:rPr sz="2000" b="0" dirty="0" err="1">
                <a:solidFill>
                  <a:srgbClr val="EB5F73"/>
                </a:solidFill>
                <a:latin typeface="Calibri"/>
              </a:rPr>
              <a:t>Pastane</a:t>
            </a:r>
            <a:r>
              <a:rPr sz="2000" b="0" dirty="0">
                <a:solidFill>
                  <a:srgbClr val="EB5F7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B5F73"/>
                </a:solidFill>
                <a:latin typeface="Calibri"/>
              </a:rPr>
              <a:t>Ürünleri</a:t>
            </a:r>
            <a:r>
              <a:rPr sz="2000" b="0" dirty="0">
                <a:solidFill>
                  <a:srgbClr val="EB5F7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B5F73"/>
                </a:solidFill>
                <a:latin typeface="Calibri"/>
              </a:rPr>
              <a:t>Satış</a:t>
            </a:r>
            <a:r>
              <a:rPr sz="2000" b="0" dirty="0">
                <a:solidFill>
                  <a:srgbClr val="EB5F7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B5F73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EB5F7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B5F73"/>
                </a:solidFill>
                <a:latin typeface="Calibri"/>
              </a:rPr>
              <a:t>Sipariş</a:t>
            </a:r>
            <a:r>
              <a:rPr sz="2000" b="0" dirty="0">
                <a:solidFill>
                  <a:srgbClr val="EB5F73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EB5F73"/>
                </a:solidFill>
                <a:latin typeface="Calibri"/>
              </a:rPr>
              <a:t>Sistemi</a:t>
            </a:r>
            <a:endParaRPr sz="2000" b="0" dirty="0">
              <a:solidFill>
                <a:srgbClr val="EB5F73"/>
              </a:solidFill>
              <a:latin typeface="Calibr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106984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 dirty="0">
                <a:solidFill>
                  <a:srgbClr val="2C3E50"/>
                </a:solidFill>
                <a:latin typeface="Calibri"/>
              </a:rPr>
              <a:t>1221602028 – İrem Su ERDEMİR  |  1221602098 – Beyza YILMAZ</a:t>
            </a:r>
          </a:p>
          <a:p>
            <a:pPr algn="ctr"/>
            <a:r>
              <a:rPr sz="1500" b="0" dirty="0" err="1">
                <a:solidFill>
                  <a:srgbClr val="2C3E50"/>
                </a:solidFill>
                <a:latin typeface="Calibri"/>
              </a:rPr>
              <a:t>Danışman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: Dr.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Öğr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. Üyesi </a:t>
            </a:r>
            <a:r>
              <a:rPr sz="1500" b="0" dirty="0" err="1">
                <a:solidFill>
                  <a:srgbClr val="2C3E50"/>
                </a:solidFill>
                <a:latin typeface="Calibri"/>
              </a:rPr>
              <a:t>Andaç</a:t>
            </a:r>
            <a:r>
              <a:rPr sz="1500" b="0" dirty="0">
                <a:solidFill>
                  <a:srgbClr val="2C3E50"/>
                </a:solidFill>
                <a:latin typeface="Calibri"/>
              </a:rPr>
              <a:t> MESUT</a:t>
            </a:r>
          </a:p>
          <a:p>
            <a:pPr algn="ctr"/>
            <a:r>
              <a:rPr sz="1500" b="0" dirty="0">
                <a:solidFill>
                  <a:srgbClr val="2C3E50"/>
                </a:solidFill>
                <a:latin typeface="Calibri"/>
              </a:rPr>
              <a:t>Edirne – Haziran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4D777D2B-7EFA-0984-E79E-5EF316FB40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" b="5826"/>
          <a:stretch>
            <a:fillRect/>
          </a:stretch>
        </p:blipFill>
        <p:spPr>
          <a:xfrm>
            <a:off x="1524" y="0"/>
            <a:ext cx="12188952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19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DDDD9520-E579-DEAB-5844-3C9E8AB85A9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726"/>
          <a:stretch>
            <a:fillRect/>
          </a:stretch>
        </p:blipFill>
        <p:spPr>
          <a:xfrm>
            <a:off x="3239" y="0"/>
            <a:ext cx="121887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4651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Resim 2">
            <a:extLst>
              <a:ext uri="{FF2B5EF4-FFF2-40B4-BE49-F238E27FC236}">
                <a16:creationId xmlns:a16="http://schemas.microsoft.com/office/drawing/2014/main" id="{A8B8DDD3-5451-EE6B-DD4D-AA3996C8EC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281" b="3799"/>
          <a:stretch>
            <a:fillRect/>
          </a:stretch>
        </p:blipFill>
        <p:spPr>
          <a:xfrm>
            <a:off x="3239" y="0"/>
            <a:ext cx="1225109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19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B0FC2901-F20E-FB2F-68A3-E0329159D7D5}"/>
              </a:ext>
            </a:extLst>
          </p:cNvPr>
          <p:cNvSpPr/>
          <p:nvPr/>
        </p:nvSpPr>
        <p:spPr>
          <a:xfrm>
            <a:off x="-19889" y="164592"/>
            <a:ext cx="12231471" cy="6693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Müşteri Paneli Ana Sayfa </a:t>
            </a:r>
            <a:endParaRPr lang="tr-TR" sz="1000" dirty="0">
              <a:solidFill>
                <a:srgbClr val="5A6A7A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8676FAE-086C-D84B-33F0-A92B8568B100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ake.png">
            <a:extLst>
              <a:ext uri="{FF2B5EF4-FFF2-40B4-BE49-F238E27FC236}">
                <a16:creationId xmlns:a16="http://schemas.microsoft.com/office/drawing/2014/main" id="{8C728DDE-B883-5598-408F-1B2FD57A8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398417" cy="5029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7B5AB3D-6CB8-C95F-F32E-F04C31370A38}"/>
              </a:ext>
            </a:extLst>
          </p:cNvPr>
          <p:cNvSpPr txBox="1"/>
          <p:nvPr/>
        </p:nvSpPr>
        <p:spPr>
          <a:xfrm>
            <a:off x="960120" y="164592"/>
            <a:ext cx="2111732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FFFF"/>
                </a:solidFill>
              </a:rPr>
              <a:t>Kullanıcı Paneli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B7D43F2-4974-FAE6-DEFA-6C621C1F1C7A}"/>
              </a:ext>
            </a:extLst>
          </p:cNvPr>
          <p:cNvSpPr/>
          <p:nvPr/>
        </p:nvSpPr>
        <p:spPr>
          <a:xfrm>
            <a:off x="190227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/>
              <a:t>Müşteri Paneli Ana Sayfa </a:t>
            </a:r>
            <a:endParaRPr lang="tr-TR" sz="800" b="1" dirty="0">
              <a:solidFill>
                <a:srgbClr val="5A6A7A"/>
              </a:solidFill>
            </a:endParaRP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5AD71DA-4D43-85DB-18F4-9575495FE5D3}"/>
              </a:ext>
            </a:extLst>
          </p:cNvPr>
          <p:cNvSpPr/>
          <p:nvPr/>
        </p:nvSpPr>
        <p:spPr>
          <a:xfrm>
            <a:off x="190227" y="166420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image10.png">
            <a:extLst>
              <a:ext uri="{FF2B5EF4-FFF2-40B4-BE49-F238E27FC236}">
                <a16:creationId xmlns:a16="http://schemas.microsoft.com/office/drawing/2014/main" id="{F93936BA-9474-BE3F-7FA2-289D01328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667" y="1890694"/>
            <a:ext cx="2039112" cy="3195484"/>
          </a:xfrm>
          <a:prstGeom prst="rect">
            <a:avLst/>
          </a:prstGeom>
        </p:spPr>
      </p:pic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F8C4E27-3400-62C6-AF1A-16D3B8ECE601}"/>
              </a:ext>
            </a:extLst>
          </p:cNvPr>
          <p:cNvSpPr/>
          <p:nvPr/>
        </p:nvSpPr>
        <p:spPr>
          <a:xfrm>
            <a:off x="2731622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000" dirty="0"/>
              <a:t> </a:t>
            </a:r>
          </a:p>
          <a:p>
            <a:r>
              <a:rPr lang="tr-TR" sz="1000" dirty="0"/>
              <a:t>      </a:t>
            </a:r>
          </a:p>
          <a:p>
            <a:r>
              <a:rPr lang="tr-TR" sz="1000" b="1" dirty="0"/>
              <a:t>                   Kategoriler Ekranı</a:t>
            </a:r>
            <a:endParaRPr lang="tr-TR" sz="800" b="1" dirty="0">
              <a:solidFill>
                <a:srgbClr val="5A6A7A"/>
              </a:solidFill>
            </a:endParaRPr>
          </a:p>
          <a:p>
            <a:endParaRPr lang="tr-TR" sz="1000" dirty="0"/>
          </a:p>
          <a:p>
            <a:endParaRPr lang="tr-TR" sz="1000" dirty="0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B3F3095B-0FCE-F4D1-5314-3A010ECDB70B}"/>
              </a:ext>
            </a:extLst>
          </p:cNvPr>
          <p:cNvSpPr/>
          <p:nvPr/>
        </p:nvSpPr>
        <p:spPr>
          <a:xfrm>
            <a:off x="2688014" y="1688837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E2791AD9-DC0E-9AD2-739D-C83493503A71}"/>
              </a:ext>
            </a:extLst>
          </p:cNvPr>
          <p:cNvSpPr/>
          <p:nvPr/>
        </p:nvSpPr>
        <p:spPr>
          <a:xfrm>
            <a:off x="5163730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1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Pastane Listesi Ekranı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C4E9A40-A697-4BC8-CEC0-C907AC8B3595}"/>
              </a:ext>
            </a:extLst>
          </p:cNvPr>
          <p:cNvSpPr/>
          <p:nvPr/>
        </p:nvSpPr>
        <p:spPr>
          <a:xfrm>
            <a:off x="5060457" y="1719072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11D1FAA-A30E-A6A2-67DA-929218D3325D}"/>
              </a:ext>
            </a:extLst>
          </p:cNvPr>
          <p:cNvSpPr/>
          <p:nvPr/>
        </p:nvSpPr>
        <p:spPr>
          <a:xfrm>
            <a:off x="9962893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>
                <a:solidFill>
                  <a:srgbClr val="FFFFFF"/>
                </a:solidFill>
              </a:rPr>
              <a:t>Ürüne Yorum Yapma Ekranı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BD4318AB-F758-3797-ED83-6CA668FE2D5C}"/>
              </a:ext>
            </a:extLst>
          </p:cNvPr>
          <p:cNvSpPr/>
          <p:nvPr/>
        </p:nvSpPr>
        <p:spPr>
          <a:xfrm>
            <a:off x="7442929" y="1728216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455EE2F8-8336-D8BA-B048-6E8FCCCCA4EF}"/>
              </a:ext>
            </a:extLst>
          </p:cNvPr>
          <p:cNvSpPr/>
          <p:nvPr/>
        </p:nvSpPr>
        <p:spPr>
          <a:xfrm>
            <a:off x="9912061" y="170992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9" name="Picture 22">
            <a:extLst>
              <a:ext uri="{FF2B5EF4-FFF2-40B4-BE49-F238E27FC236}">
                <a16:creationId xmlns:a16="http://schemas.microsoft.com/office/drawing/2014/main" id="{9BC3E53C-263D-F7C2-009D-D517535C2E9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6"/>
          <a:stretch>
            <a:fillRect/>
          </a:stretch>
        </p:blipFill>
        <p:spPr bwMode="auto">
          <a:xfrm>
            <a:off x="2744300" y="1900369"/>
            <a:ext cx="2069017" cy="315784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0" name="Picture 24">
            <a:extLst>
              <a:ext uri="{FF2B5EF4-FFF2-40B4-BE49-F238E27FC236}">
                <a16:creationId xmlns:a16="http://schemas.microsoft.com/office/drawing/2014/main" id="{ADD310E9-A793-935B-9224-4F5703F357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801" y="1943102"/>
            <a:ext cx="2006782" cy="311511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Rounded Rectangle 21">
            <a:extLst>
              <a:ext uri="{FF2B5EF4-FFF2-40B4-BE49-F238E27FC236}">
                <a16:creationId xmlns:a16="http://schemas.microsoft.com/office/drawing/2014/main" id="{F11D1FAA-A30E-A6A2-67DA-929218D3325D}"/>
              </a:ext>
            </a:extLst>
          </p:cNvPr>
          <p:cNvSpPr/>
          <p:nvPr/>
        </p:nvSpPr>
        <p:spPr>
          <a:xfrm>
            <a:off x="7565791" y="5544714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i="0" dirty="0">
                <a:solidFill>
                  <a:srgbClr val="FFFFFF"/>
                </a:solidFill>
                <a:latin typeface="Calibri"/>
              </a:rPr>
              <a:t>Ürün Ekranı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64" name="Picture 34">
            <a:extLst>
              <a:ext uri="{FF2B5EF4-FFF2-40B4-BE49-F238E27FC236}">
                <a16:creationId xmlns:a16="http://schemas.microsoft.com/office/drawing/2014/main" id="{EC850706-6F1F-7277-C1CA-29DE129D9D6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530" y="2020996"/>
            <a:ext cx="2106499" cy="3065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Picture 36">
            <a:extLst>
              <a:ext uri="{FF2B5EF4-FFF2-40B4-BE49-F238E27FC236}">
                <a16:creationId xmlns:a16="http://schemas.microsoft.com/office/drawing/2014/main" id="{374108F2-9783-5083-2AD4-FE7D080E674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70871" y="2043438"/>
            <a:ext cx="2104372" cy="30147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635651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6071D04-54CC-7B30-AD59-2FB75D220B46}"/>
              </a:ext>
            </a:extLst>
          </p:cNvPr>
          <p:cNvSpPr/>
          <p:nvPr/>
        </p:nvSpPr>
        <p:spPr>
          <a:xfrm>
            <a:off x="-19889" y="164592"/>
            <a:ext cx="12231471" cy="6693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Müşteri Paneli Ana Sayfa </a:t>
            </a:r>
            <a:endParaRPr lang="tr-TR" sz="1000" dirty="0">
              <a:solidFill>
                <a:srgbClr val="5A6A7A"/>
              </a:solidFill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52BE7FE-482B-5F26-1F31-8E197BABB242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4" descr="cake.png">
            <a:extLst>
              <a:ext uri="{FF2B5EF4-FFF2-40B4-BE49-F238E27FC236}">
                <a16:creationId xmlns:a16="http://schemas.microsoft.com/office/drawing/2014/main" id="{3CEBDC78-1E3D-3039-2B62-88F48275B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9728"/>
            <a:ext cx="398417" cy="502920"/>
          </a:xfrm>
          <a:prstGeom prst="rect">
            <a:avLst/>
          </a:prstGeom>
        </p:spPr>
      </p:pic>
      <p:sp>
        <p:nvSpPr>
          <p:cNvPr id="5" name="TextBox 5">
            <a:extLst>
              <a:ext uri="{FF2B5EF4-FFF2-40B4-BE49-F238E27FC236}">
                <a16:creationId xmlns:a16="http://schemas.microsoft.com/office/drawing/2014/main" id="{420CCC76-FE5B-7506-78B1-0EBEA22EB297}"/>
              </a:ext>
            </a:extLst>
          </p:cNvPr>
          <p:cNvSpPr txBox="1"/>
          <p:nvPr/>
        </p:nvSpPr>
        <p:spPr>
          <a:xfrm>
            <a:off x="960120" y="164592"/>
            <a:ext cx="187557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FFFF"/>
                </a:solidFill>
              </a:rPr>
              <a:t>Sipariş Süreci</a:t>
            </a:r>
          </a:p>
        </p:txBody>
      </p:sp>
      <p:sp>
        <p:nvSpPr>
          <p:cNvPr id="6" name="Rounded Rectangle 9">
            <a:extLst>
              <a:ext uri="{FF2B5EF4-FFF2-40B4-BE49-F238E27FC236}">
                <a16:creationId xmlns:a16="http://schemas.microsoft.com/office/drawing/2014/main" id="{D8F36E41-1048-80A1-1588-1F74A10775DA}"/>
              </a:ext>
            </a:extLst>
          </p:cNvPr>
          <p:cNvSpPr/>
          <p:nvPr/>
        </p:nvSpPr>
        <p:spPr>
          <a:xfrm>
            <a:off x="190227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dirty="0"/>
              <a:t>Sepetim Ekranı</a:t>
            </a:r>
            <a:endParaRPr lang="tr-TR" sz="800" dirty="0">
              <a:solidFill>
                <a:srgbClr val="5A6A7A"/>
              </a:solidFill>
            </a:endParaRPr>
          </a:p>
        </p:txBody>
      </p:sp>
      <p:sp>
        <p:nvSpPr>
          <p:cNvPr id="7" name="Rounded Rectangle 10">
            <a:extLst>
              <a:ext uri="{FF2B5EF4-FFF2-40B4-BE49-F238E27FC236}">
                <a16:creationId xmlns:a16="http://schemas.microsoft.com/office/drawing/2014/main" id="{7A317B3B-B566-E29E-FC6D-13CBA01ECB7A}"/>
              </a:ext>
            </a:extLst>
          </p:cNvPr>
          <p:cNvSpPr/>
          <p:nvPr/>
        </p:nvSpPr>
        <p:spPr>
          <a:xfrm>
            <a:off x="190227" y="166420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13">
            <a:extLst>
              <a:ext uri="{FF2B5EF4-FFF2-40B4-BE49-F238E27FC236}">
                <a16:creationId xmlns:a16="http://schemas.microsoft.com/office/drawing/2014/main" id="{9BF8C16C-B850-B612-D378-110B2B978649}"/>
              </a:ext>
            </a:extLst>
          </p:cNvPr>
          <p:cNvSpPr/>
          <p:nvPr/>
        </p:nvSpPr>
        <p:spPr>
          <a:xfrm>
            <a:off x="2731622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>
                <a:solidFill>
                  <a:srgbClr val="FFFFFF"/>
                </a:solidFill>
              </a:rPr>
              <a:t>Ödeme Detay Ekranı</a:t>
            </a:r>
          </a:p>
        </p:txBody>
      </p:sp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36F2FB50-AE99-7EAE-7426-AEE7405279AA}"/>
              </a:ext>
            </a:extLst>
          </p:cNvPr>
          <p:cNvSpPr/>
          <p:nvPr/>
        </p:nvSpPr>
        <p:spPr>
          <a:xfrm>
            <a:off x="2688014" y="1688837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7">
            <a:extLst>
              <a:ext uri="{FF2B5EF4-FFF2-40B4-BE49-F238E27FC236}">
                <a16:creationId xmlns:a16="http://schemas.microsoft.com/office/drawing/2014/main" id="{289F77DF-C6C0-DEED-7D10-85B10CF1868A}"/>
              </a:ext>
            </a:extLst>
          </p:cNvPr>
          <p:cNvSpPr/>
          <p:nvPr/>
        </p:nvSpPr>
        <p:spPr>
          <a:xfrm>
            <a:off x="5163730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1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Adres Bilgisi Girme Ekranı</a:t>
            </a:r>
          </a:p>
        </p:txBody>
      </p:sp>
      <p:sp>
        <p:nvSpPr>
          <p:cNvPr id="12" name="Rounded Rectangle 18">
            <a:extLst>
              <a:ext uri="{FF2B5EF4-FFF2-40B4-BE49-F238E27FC236}">
                <a16:creationId xmlns:a16="http://schemas.microsoft.com/office/drawing/2014/main" id="{E191A2CB-3E5F-A009-67FD-C0EA016CC3CD}"/>
              </a:ext>
            </a:extLst>
          </p:cNvPr>
          <p:cNvSpPr/>
          <p:nvPr/>
        </p:nvSpPr>
        <p:spPr>
          <a:xfrm>
            <a:off x="5060457" y="1719072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21">
            <a:extLst>
              <a:ext uri="{FF2B5EF4-FFF2-40B4-BE49-F238E27FC236}">
                <a16:creationId xmlns:a16="http://schemas.microsoft.com/office/drawing/2014/main" id="{5A06F6A8-9B85-D8B3-04AA-CD84E77B01EF}"/>
              </a:ext>
            </a:extLst>
          </p:cNvPr>
          <p:cNvSpPr/>
          <p:nvPr/>
        </p:nvSpPr>
        <p:spPr>
          <a:xfrm>
            <a:off x="9962893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sz="1000" b="1" dirty="0">
              <a:solidFill>
                <a:srgbClr val="FFFFFF"/>
              </a:solidFill>
            </a:endParaRPr>
          </a:p>
          <a:p>
            <a:pPr algn="ctr"/>
            <a:r>
              <a:rPr lang="tr-TR" sz="1000" b="1" dirty="0">
                <a:solidFill>
                  <a:srgbClr val="FFFFFF"/>
                </a:solidFill>
              </a:rPr>
              <a:t> Aktif Siparişlerim Ekranı</a:t>
            </a:r>
          </a:p>
          <a:p>
            <a:pPr algn="ctr"/>
            <a:endParaRPr lang="tr-TR" sz="1000" b="1" dirty="0">
              <a:solidFill>
                <a:srgbClr val="FFFFFF"/>
              </a:solidFill>
            </a:endParaRPr>
          </a:p>
        </p:txBody>
      </p:sp>
      <p:sp>
        <p:nvSpPr>
          <p:cNvPr id="14" name="Rounded Rectangle 22">
            <a:extLst>
              <a:ext uri="{FF2B5EF4-FFF2-40B4-BE49-F238E27FC236}">
                <a16:creationId xmlns:a16="http://schemas.microsoft.com/office/drawing/2014/main" id="{CC1E751C-23F4-05F8-BB8C-50751DB4E391}"/>
              </a:ext>
            </a:extLst>
          </p:cNvPr>
          <p:cNvSpPr/>
          <p:nvPr/>
        </p:nvSpPr>
        <p:spPr>
          <a:xfrm>
            <a:off x="7442929" y="1728216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0">
            <a:extLst>
              <a:ext uri="{FF2B5EF4-FFF2-40B4-BE49-F238E27FC236}">
                <a16:creationId xmlns:a16="http://schemas.microsoft.com/office/drawing/2014/main" id="{5CBFF75B-1F4C-C92B-1096-F67B539FB561}"/>
              </a:ext>
            </a:extLst>
          </p:cNvPr>
          <p:cNvSpPr/>
          <p:nvPr/>
        </p:nvSpPr>
        <p:spPr>
          <a:xfrm>
            <a:off x="9912061" y="170992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21">
            <a:extLst>
              <a:ext uri="{FF2B5EF4-FFF2-40B4-BE49-F238E27FC236}">
                <a16:creationId xmlns:a16="http://schemas.microsoft.com/office/drawing/2014/main" id="{F47157A1-C151-093D-3069-1E6A6C7E3A96}"/>
              </a:ext>
            </a:extLst>
          </p:cNvPr>
          <p:cNvSpPr/>
          <p:nvPr/>
        </p:nvSpPr>
        <p:spPr>
          <a:xfrm>
            <a:off x="7565791" y="5544714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>
                <a:solidFill>
                  <a:srgbClr val="FFFFFF"/>
                </a:solidFill>
              </a:rPr>
              <a:t>Teslimat Rotası Ekranı</a:t>
            </a:r>
            <a:endParaRPr lang="tr-TR" sz="1000" b="1" dirty="0">
              <a:solidFill>
                <a:srgbClr val="FFFFFF"/>
              </a:solidFill>
            </a:endParaRPr>
          </a:p>
        </p:txBody>
      </p:sp>
      <p:pic>
        <p:nvPicPr>
          <p:cNvPr id="20" name="Picture 60">
            <a:extLst>
              <a:ext uri="{FF2B5EF4-FFF2-40B4-BE49-F238E27FC236}">
                <a16:creationId xmlns:a16="http://schemas.microsoft.com/office/drawing/2014/main" id="{D792B61E-751F-C664-4D65-9451D6C2392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0015" y="2033462"/>
            <a:ext cx="2131529" cy="301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Picture 38">
            <a:extLst>
              <a:ext uri="{FF2B5EF4-FFF2-40B4-BE49-F238E27FC236}">
                <a16:creationId xmlns:a16="http://schemas.microsoft.com/office/drawing/2014/main" id="{6ECB05BA-BF42-02CE-9BB2-EDF8DACA9FE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06" y="1972742"/>
            <a:ext cx="2200214" cy="2963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Picture 40">
            <a:extLst>
              <a:ext uri="{FF2B5EF4-FFF2-40B4-BE49-F238E27FC236}">
                <a16:creationId xmlns:a16="http://schemas.microsoft.com/office/drawing/2014/main" id="{7350750E-C6E3-4E29-CEBD-E8007BC8AA0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6062" y="2009117"/>
            <a:ext cx="2165896" cy="294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Picture 46">
            <a:extLst>
              <a:ext uri="{FF2B5EF4-FFF2-40B4-BE49-F238E27FC236}">
                <a16:creationId xmlns:a16="http://schemas.microsoft.com/office/drawing/2014/main" id="{306741EF-7BBE-248D-0D0C-82C7314C2DE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96862" y="2009117"/>
            <a:ext cx="2116852" cy="3036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Picture 58">
            <a:extLst>
              <a:ext uri="{FF2B5EF4-FFF2-40B4-BE49-F238E27FC236}">
                <a16:creationId xmlns:a16="http://schemas.microsoft.com/office/drawing/2014/main" id="{08B6AA9C-F10F-91CE-95EE-A7B73403A8BA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62304" y="2033462"/>
            <a:ext cx="2143701" cy="30117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99054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1">
            <a:extLst>
              <a:ext uri="{FF2B5EF4-FFF2-40B4-BE49-F238E27FC236}">
                <a16:creationId xmlns:a16="http://schemas.microsoft.com/office/drawing/2014/main" id="{DEDCBAF8-E55B-0F1B-6FF7-7DC324137174}"/>
              </a:ext>
            </a:extLst>
          </p:cNvPr>
          <p:cNvSpPr/>
          <p:nvPr/>
        </p:nvSpPr>
        <p:spPr>
          <a:xfrm>
            <a:off x="-19889" y="164592"/>
            <a:ext cx="12231471" cy="6693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Müşteri Paneli Ana Sayfa </a:t>
            </a:r>
            <a:endParaRPr lang="tr-TR" sz="1000" dirty="0">
              <a:solidFill>
                <a:srgbClr val="5A6A7A"/>
              </a:solidFill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AF944AFE-D2C2-BD12-9988-5E5551E428E1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0" name="Picture 4" descr="cake.png">
            <a:extLst>
              <a:ext uri="{FF2B5EF4-FFF2-40B4-BE49-F238E27FC236}">
                <a16:creationId xmlns:a16="http://schemas.microsoft.com/office/drawing/2014/main" id="{5B24E452-160A-DA97-1C39-9412279C1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398417" cy="502920"/>
          </a:xfrm>
          <a:prstGeom prst="rect">
            <a:avLst/>
          </a:prstGeom>
        </p:spPr>
      </p:pic>
      <p:sp>
        <p:nvSpPr>
          <p:cNvPr id="61" name="TextBox 5">
            <a:extLst>
              <a:ext uri="{FF2B5EF4-FFF2-40B4-BE49-F238E27FC236}">
                <a16:creationId xmlns:a16="http://schemas.microsoft.com/office/drawing/2014/main" id="{8218DC4B-7C73-3280-48A7-742EBC8025D8}"/>
              </a:ext>
            </a:extLst>
          </p:cNvPr>
          <p:cNvSpPr txBox="1"/>
          <p:nvPr/>
        </p:nvSpPr>
        <p:spPr>
          <a:xfrm>
            <a:off x="960120" y="164592"/>
            <a:ext cx="204164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FFFF"/>
                </a:solidFill>
              </a:rPr>
              <a:t>Pastane Paneli</a:t>
            </a:r>
          </a:p>
        </p:txBody>
      </p:sp>
      <p:sp>
        <p:nvSpPr>
          <p:cNvPr id="62" name="Rounded Rectangle 9">
            <a:extLst>
              <a:ext uri="{FF2B5EF4-FFF2-40B4-BE49-F238E27FC236}">
                <a16:creationId xmlns:a16="http://schemas.microsoft.com/office/drawing/2014/main" id="{571ECB98-FB3D-7E3B-6973-4CFAF3336553}"/>
              </a:ext>
            </a:extLst>
          </p:cNvPr>
          <p:cNvSpPr/>
          <p:nvPr/>
        </p:nvSpPr>
        <p:spPr>
          <a:xfrm>
            <a:off x="190227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/>
              <a:t>Pastane Paneli Ana Ekran</a:t>
            </a:r>
            <a:endParaRPr lang="tr-TR" sz="1000" b="1" dirty="0">
              <a:solidFill>
                <a:srgbClr val="5A6A7A"/>
              </a:solidFill>
            </a:endParaRPr>
          </a:p>
        </p:txBody>
      </p:sp>
      <p:sp>
        <p:nvSpPr>
          <p:cNvPr id="63" name="Rounded Rectangle 10">
            <a:extLst>
              <a:ext uri="{FF2B5EF4-FFF2-40B4-BE49-F238E27FC236}">
                <a16:creationId xmlns:a16="http://schemas.microsoft.com/office/drawing/2014/main" id="{7089F81C-80C5-E589-63E2-A01CC2E4C6A0}"/>
              </a:ext>
            </a:extLst>
          </p:cNvPr>
          <p:cNvSpPr/>
          <p:nvPr/>
        </p:nvSpPr>
        <p:spPr>
          <a:xfrm>
            <a:off x="190227" y="166420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13">
            <a:extLst>
              <a:ext uri="{FF2B5EF4-FFF2-40B4-BE49-F238E27FC236}">
                <a16:creationId xmlns:a16="http://schemas.microsoft.com/office/drawing/2014/main" id="{75DC6081-CF4C-4185-7994-9217D312BA05}"/>
              </a:ext>
            </a:extLst>
          </p:cNvPr>
          <p:cNvSpPr/>
          <p:nvPr/>
        </p:nvSpPr>
        <p:spPr>
          <a:xfrm>
            <a:off x="2731622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/>
              <a:t>Pastane Paneli Siparişler Ekranı</a:t>
            </a:r>
            <a:endParaRPr lang="tr-TR" sz="1000" b="1" dirty="0">
              <a:solidFill>
                <a:srgbClr val="FFFFFF"/>
              </a:solidFill>
            </a:endParaRPr>
          </a:p>
        </p:txBody>
      </p:sp>
      <p:sp>
        <p:nvSpPr>
          <p:cNvPr id="65" name="Rounded Rectangle 14">
            <a:extLst>
              <a:ext uri="{FF2B5EF4-FFF2-40B4-BE49-F238E27FC236}">
                <a16:creationId xmlns:a16="http://schemas.microsoft.com/office/drawing/2014/main" id="{700A54B8-5BE3-9CD9-C07E-9FF033FF5542}"/>
              </a:ext>
            </a:extLst>
          </p:cNvPr>
          <p:cNvSpPr/>
          <p:nvPr/>
        </p:nvSpPr>
        <p:spPr>
          <a:xfrm>
            <a:off x="2688014" y="1688837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ounded Rectangle 17">
            <a:extLst>
              <a:ext uri="{FF2B5EF4-FFF2-40B4-BE49-F238E27FC236}">
                <a16:creationId xmlns:a16="http://schemas.microsoft.com/office/drawing/2014/main" id="{AEFCEE29-665C-AE7E-DDB4-D94D567CAB10}"/>
              </a:ext>
            </a:extLst>
          </p:cNvPr>
          <p:cNvSpPr/>
          <p:nvPr/>
        </p:nvSpPr>
        <p:spPr>
          <a:xfrm>
            <a:off x="5163730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1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Sipariş Yönetim Ekranı</a:t>
            </a:r>
          </a:p>
        </p:txBody>
      </p:sp>
      <p:sp>
        <p:nvSpPr>
          <p:cNvPr id="67" name="Rounded Rectangle 18">
            <a:extLst>
              <a:ext uri="{FF2B5EF4-FFF2-40B4-BE49-F238E27FC236}">
                <a16:creationId xmlns:a16="http://schemas.microsoft.com/office/drawing/2014/main" id="{BC54ACE1-0CEE-CEDC-B3B9-CFA9A8A19841}"/>
              </a:ext>
            </a:extLst>
          </p:cNvPr>
          <p:cNvSpPr/>
          <p:nvPr/>
        </p:nvSpPr>
        <p:spPr>
          <a:xfrm>
            <a:off x="5060457" y="1719072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ounded Rectangle 21">
            <a:extLst>
              <a:ext uri="{FF2B5EF4-FFF2-40B4-BE49-F238E27FC236}">
                <a16:creationId xmlns:a16="http://schemas.microsoft.com/office/drawing/2014/main" id="{7D67C752-A3CA-5755-ED23-617CF773DBFE}"/>
              </a:ext>
            </a:extLst>
          </p:cNvPr>
          <p:cNvSpPr/>
          <p:nvPr/>
        </p:nvSpPr>
        <p:spPr>
          <a:xfrm>
            <a:off x="9962893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000" b="1" dirty="0"/>
              <a:t>      Pastane Panel Bildirimler Ekranı</a:t>
            </a:r>
          </a:p>
        </p:txBody>
      </p:sp>
      <p:sp>
        <p:nvSpPr>
          <p:cNvPr id="69" name="Rounded Rectangle 22">
            <a:extLst>
              <a:ext uri="{FF2B5EF4-FFF2-40B4-BE49-F238E27FC236}">
                <a16:creationId xmlns:a16="http://schemas.microsoft.com/office/drawing/2014/main" id="{0E6020E5-5633-4F4B-2BF6-0FE34AE0D01E}"/>
              </a:ext>
            </a:extLst>
          </p:cNvPr>
          <p:cNvSpPr/>
          <p:nvPr/>
        </p:nvSpPr>
        <p:spPr>
          <a:xfrm>
            <a:off x="7442929" y="1728216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ounded Rectangle 10">
            <a:extLst>
              <a:ext uri="{FF2B5EF4-FFF2-40B4-BE49-F238E27FC236}">
                <a16:creationId xmlns:a16="http://schemas.microsoft.com/office/drawing/2014/main" id="{30A3F73C-2408-7BA2-1B6B-45C76550497F}"/>
              </a:ext>
            </a:extLst>
          </p:cNvPr>
          <p:cNvSpPr/>
          <p:nvPr/>
        </p:nvSpPr>
        <p:spPr>
          <a:xfrm>
            <a:off x="9912061" y="170992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ounded Rectangle 21">
            <a:extLst>
              <a:ext uri="{FF2B5EF4-FFF2-40B4-BE49-F238E27FC236}">
                <a16:creationId xmlns:a16="http://schemas.microsoft.com/office/drawing/2014/main" id="{CE049290-F14C-0D4D-9FBD-80456F8CA752}"/>
              </a:ext>
            </a:extLst>
          </p:cNvPr>
          <p:cNvSpPr/>
          <p:nvPr/>
        </p:nvSpPr>
        <p:spPr>
          <a:xfrm>
            <a:off x="7565791" y="5544714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>
                <a:solidFill>
                  <a:srgbClr val="FFFFFF"/>
                </a:solidFill>
              </a:rPr>
              <a:t>Menü Yönetim Ekranı</a:t>
            </a:r>
          </a:p>
        </p:txBody>
      </p:sp>
      <p:pic>
        <p:nvPicPr>
          <p:cNvPr id="78" name="Picture 80">
            <a:extLst>
              <a:ext uri="{FF2B5EF4-FFF2-40B4-BE49-F238E27FC236}">
                <a16:creationId xmlns:a16="http://schemas.microsoft.com/office/drawing/2014/main" id="{93D2A2FD-D333-5FEA-300F-1911A7446AA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51" y="1990098"/>
            <a:ext cx="2207968" cy="2959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Picture 84">
            <a:extLst>
              <a:ext uri="{FF2B5EF4-FFF2-40B4-BE49-F238E27FC236}">
                <a16:creationId xmlns:a16="http://schemas.microsoft.com/office/drawing/2014/main" id="{3A5AFE87-056B-FB76-637A-622037890A2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622" y="1990098"/>
            <a:ext cx="2106789" cy="299908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Picture 94">
            <a:extLst>
              <a:ext uri="{FF2B5EF4-FFF2-40B4-BE49-F238E27FC236}">
                <a16:creationId xmlns:a16="http://schemas.microsoft.com/office/drawing/2014/main" id="{E94C612E-7706-B612-FAF6-145F81440E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5801" y="2033462"/>
            <a:ext cx="1964024" cy="3011792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Picture 104">
            <a:extLst>
              <a:ext uri="{FF2B5EF4-FFF2-40B4-BE49-F238E27FC236}">
                <a16:creationId xmlns:a16="http://schemas.microsoft.com/office/drawing/2014/main" id="{4A9A589B-6D63-4C93-31F8-3BC2BCCF28E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2565" y="1973395"/>
            <a:ext cx="2172355" cy="30117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Picture 82">
            <a:extLst>
              <a:ext uri="{FF2B5EF4-FFF2-40B4-BE49-F238E27FC236}">
                <a16:creationId xmlns:a16="http://schemas.microsoft.com/office/drawing/2014/main" id="{AC9936C3-AEBD-076C-808C-A268A702F88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1206" y="2033462"/>
            <a:ext cx="2143701" cy="29437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>
            <a:extLst>
              <a:ext uri="{FF2B5EF4-FFF2-40B4-BE49-F238E27FC236}">
                <a16:creationId xmlns:a16="http://schemas.microsoft.com/office/drawing/2014/main" id="{68E2BD33-97FA-D417-8E19-3FD5A90C3E4F}"/>
              </a:ext>
            </a:extLst>
          </p:cNvPr>
          <p:cNvSpPr/>
          <p:nvPr/>
        </p:nvSpPr>
        <p:spPr>
          <a:xfrm>
            <a:off x="-19889" y="164592"/>
            <a:ext cx="12231471" cy="6693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Müşteri Paneli Ana Sayfa </a:t>
            </a:r>
            <a:endParaRPr lang="tr-TR" sz="1000" dirty="0">
              <a:solidFill>
                <a:srgbClr val="5A6A7A"/>
              </a:solidFill>
            </a:endParaRPr>
          </a:p>
        </p:txBody>
      </p:sp>
      <p:sp>
        <p:nvSpPr>
          <p:cNvPr id="23" name="Rectangle 3">
            <a:extLst>
              <a:ext uri="{FF2B5EF4-FFF2-40B4-BE49-F238E27FC236}">
                <a16:creationId xmlns:a16="http://schemas.microsoft.com/office/drawing/2014/main" id="{EBD0F619-BCD5-701B-8CFB-3F2C3B42B313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Picture 4" descr="cake.png">
            <a:extLst>
              <a:ext uri="{FF2B5EF4-FFF2-40B4-BE49-F238E27FC236}">
                <a16:creationId xmlns:a16="http://schemas.microsoft.com/office/drawing/2014/main" id="{A062FF43-BAE5-B6AA-CDB6-8B80477039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398417" cy="502920"/>
          </a:xfrm>
          <a:prstGeom prst="rect">
            <a:avLst/>
          </a:prstGeom>
        </p:spPr>
      </p:pic>
      <p:sp>
        <p:nvSpPr>
          <p:cNvPr id="25" name="TextBox 5">
            <a:extLst>
              <a:ext uri="{FF2B5EF4-FFF2-40B4-BE49-F238E27FC236}">
                <a16:creationId xmlns:a16="http://schemas.microsoft.com/office/drawing/2014/main" id="{7E8FCFD9-A343-74B8-EDA0-F3FA5BE0840C}"/>
              </a:ext>
            </a:extLst>
          </p:cNvPr>
          <p:cNvSpPr txBox="1"/>
          <p:nvPr/>
        </p:nvSpPr>
        <p:spPr>
          <a:xfrm>
            <a:off x="960120" y="164592"/>
            <a:ext cx="1772986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FFFF"/>
                </a:solidFill>
              </a:rPr>
              <a:t>Kurye Paneli</a:t>
            </a:r>
          </a:p>
        </p:txBody>
      </p:sp>
      <p:sp>
        <p:nvSpPr>
          <p:cNvPr id="26" name="Rounded Rectangle 9">
            <a:extLst>
              <a:ext uri="{FF2B5EF4-FFF2-40B4-BE49-F238E27FC236}">
                <a16:creationId xmlns:a16="http://schemas.microsoft.com/office/drawing/2014/main" id="{60DC0B23-C113-78FB-0013-3AB747F1848F}"/>
              </a:ext>
            </a:extLst>
          </p:cNvPr>
          <p:cNvSpPr/>
          <p:nvPr/>
        </p:nvSpPr>
        <p:spPr>
          <a:xfrm>
            <a:off x="320040" y="5549223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000" b="1" dirty="0"/>
              <a:t>          Kurye Paneli Ana Ekranı </a:t>
            </a:r>
          </a:p>
        </p:txBody>
      </p:sp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856B967E-FAE7-6E17-7862-180E4EBE5050}"/>
              </a:ext>
            </a:extLst>
          </p:cNvPr>
          <p:cNvSpPr/>
          <p:nvPr/>
        </p:nvSpPr>
        <p:spPr>
          <a:xfrm>
            <a:off x="357601" y="166420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B281BAF2-10A0-B841-E74D-391F78D6EC44}"/>
              </a:ext>
            </a:extLst>
          </p:cNvPr>
          <p:cNvSpPr/>
          <p:nvPr/>
        </p:nvSpPr>
        <p:spPr>
          <a:xfrm>
            <a:off x="3107261" y="5549223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/>
              <a:t>Teslimat Siparişleri Bekleyen Siparişler Ekranı </a:t>
            </a:r>
            <a:endParaRPr lang="tr-TR" sz="1000" b="1" dirty="0">
              <a:solidFill>
                <a:srgbClr val="FFFFFF"/>
              </a:solidFill>
            </a:endParaRPr>
          </a:p>
        </p:txBody>
      </p:sp>
      <p:sp>
        <p:nvSpPr>
          <p:cNvPr id="29" name="Rounded Rectangle 14">
            <a:extLst>
              <a:ext uri="{FF2B5EF4-FFF2-40B4-BE49-F238E27FC236}">
                <a16:creationId xmlns:a16="http://schemas.microsoft.com/office/drawing/2014/main" id="{F67C7189-512A-FC4B-EAD1-FD10642EE720}"/>
              </a:ext>
            </a:extLst>
          </p:cNvPr>
          <p:cNvSpPr/>
          <p:nvPr/>
        </p:nvSpPr>
        <p:spPr>
          <a:xfrm>
            <a:off x="3107262" y="166420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17">
            <a:extLst>
              <a:ext uri="{FF2B5EF4-FFF2-40B4-BE49-F238E27FC236}">
                <a16:creationId xmlns:a16="http://schemas.microsoft.com/office/drawing/2014/main" id="{750D7D0B-F1EF-F49A-1047-0AE43D4E83EF}"/>
              </a:ext>
            </a:extLst>
          </p:cNvPr>
          <p:cNvSpPr/>
          <p:nvPr/>
        </p:nvSpPr>
        <p:spPr>
          <a:xfrm>
            <a:off x="6127392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1000" b="1" dirty="0"/>
              <a:t>          Teslimat Rotası Ekranı</a:t>
            </a:r>
            <a:endParaRPr lang="tr-TR" sz="1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31" name="Rounded Rectangle 18">
            <a:extLst>
              <a:ext uri="{FF2B5EF4-FFF2-40B4-BE49-F238E27FC236}">
                <a16:creationId xmlns:a16="http://schemas.microsoft.com/office/drawing/2014/main" id="{7F3F3490-CCB9-CC84-E754-DAA6DD491886}"/>
              </a:ext>
            </a:extLst>
          </p:cNvPr>
          <p:cNvSpPr/>
          <p:nvPr/>
        </p:nvSpPr>
        <p:spPr>
          <a:xfrm>
            <a:off x="6090648" y="162056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22">
            <a:extLst>
              <a:ext uri="{FF2B5EF4-FFF2-40B4-BE49-F238E27FC236}">
                <a16:creationId xmlns:a16="http://schemas.microsoft.com/office/drawing/2014/main" id="{8782A92D-A220-849B-4B88-3D16BA7D536A}"/>
              </a:ext>
            </a:extLst>
          </p:cNvPr>
          <p:cNvSpPr/>
          <p:nvPr/>
        </p:nvSpPr>
        <p:spPr>
          <a:xfrm>
            <a:off x="9074035" y="170385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21">
            <a:extLst>
              <a:ext uri="{FF2B5EF4-FFF2-40B4-BE49-F238E27FC236}">
                <a16:creationId xmlns:a16="http://schemas.microsoft.com/office/drawing/2014/main" id="{21759134-D10D-1CF8-93CB-03019B205334}"/>
              </a:ext>
            </a:extLst>
          </p:cNvPr>
          <p:cNvSpPr/>
          <p:nvPr/>
        </p:nvSpPr>
        <p:spPr>
          <a:xfrm>
            <a:off x="9204967" y="5544714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000" b="1" dirty="0"/>
              <a:t>    Kurye-Müşteri Sohbet Ekranı</a:t>
            </a:r>
          </a:p>
        </p:txBody>
      </p:sp>
      <p:pic>
        <p:nvPicPr>
          <p:cNvPr id="41" name="Picture 118">
            <a:extLst>
              <a:ext uri="{FF2B5EF4-FFF2-40B4-BE49-F238E27FC236}">
                <a16:creationId xmlns:a16="http://schemas.microsoft.com/office/drawing/2014/main" id="{3D4F4F8F-7B45-5B7E-24D6-509BA75A72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921" y="2004902"/>
            <a:ext cx="2010205" cy="30127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Picture 122">
            <a:extLst>
              <a:ext uri="{FF2B5EF4-FFF2-40B4-BE49-F238E27FC236}">
                <a16:creationId xmlns:a16="http://schemas.microsoft.com/office/drawing/2014/main" id="{6A7022E7-942D-A52D-05B8-1D88A9C648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0936" y="2025168"/>
            <a:ext cx="2194643" cy="299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Picture 132">
            <a:extLst>
              <a:ext uri="{FF2B5EF4-FFF2-40B4-BE49-F238E27FC236}">
                <a16:creationId xmlns:a16="http://schemas.microsoft.com/office/drawing/2014/main" id="{405F3456-319D-9CDE-4D3A-74751BBE9C3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4967" y="2056785"/>
            <a:ext cx="1960127" cy="2897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Picture 130">
            <a:extLst>
              <a:ext uri="{FF2B5EF4-FFF2-40B4-BE49-F238E27FC236}">
                <a16:creationId xmlns:a16="http://schemas.microsoft.com/office/drawing/2014/main" id="{F57A7EE0-2208-E1B2-4CB2-EEFA70E640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1907" y="2025168"/>
            <a:ext cx="2007693" cy="292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1">
            <a:extLst>
              <a:ext uri="{FF2B5EF4-FFF2-40B4-BE49-F238E27FC236}">
                <a16:creationId xmlns:a16="http://schemas.microsoft.com/office/drawing/2014/main" id="{7A3C289F-9258-412C-71A8-2A42D353E79B}"/>
              </a:ext>
            </a:extLst>
          </p:cNvPr>
          <p:cNvSpPr/>
          <p:nvPr/>
        </p:nvSpPr>
        <p:spPr>
          <a:xfrm>
            <a:off x="-19889" y="164592"/>
            <a:ext cx="12231471" cy="66934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/>
              <a:t>Müşteri Paneli Ana Sayfa </a:t>
            </a:r>
            <a:endParaRPr lang="tr-TR" sz="1000" dirty="0">
              <a:solidFill>
                <a:srgbClr val="5A6A7A"/>
              </a:solidFill>
            </a:endParaRPr>
          </a:p>
        </p:txBody>
      </p:sp>
      <p:sp>
        <p:nvSpPr>
          <p:cNvPr id="74" name="Rectangle 3">
            <a:extLst>
              <a:ext uri="{FF2B5EF4-FFF2-40B4-BE49-F238E27FC236}">
                <a16:creationId xmlns:a16="http://schemas.microsoft.com/office/drawing/2014/main" id="{B9223FF8-E638-2755-1E3D-92EDE896F77B}"/>
              </a:ext>
            </a:extLst>
          </p:cNvPr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5" name="Picture 4" descr="cake.png">
            <a:extLst>
              <a:ext uri="{FF2B5EF4-FFF2-40B4-BE49-F238E27FC236}">
                <a16:creationId xmlns:a16="http://schemas.microsoft.com/office/drawing/2014/main" id="{E54B1DA0-4636-EBFE-8B03-AFE67DF18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9728"/>
            <a:ext cx="398417" cy="502920"/>
          </a:xfrm>
          <a:prstGeom prst="rect">
            <a:avLst/>
          </a:prstGeom>
        </p:spPr>
      </p:pic>
      <p:sp>
        <p:nvSpPr>
          <p:cNvPr id="76" name="TextBox 5">
            <a:extLst>
              <a:ext uri="{FF2B5EF4-FFF2-40B4-BE49-F238E27FC236}">
                <a16:creationId xmlns:a16="http://schemas.microsoft.com/office/drawing/2014/main" id="{4A4AE64D-F388-2CBF-110D-E6C0579C049E}"/>
              </a:ext>
            </a:extLst>
          </p:cNvPr>
          <p:cNvSpPr txBox="1"/>
          <p:nvPr/>
        </p:nvSpPr>
        <p:spPr>
          <a:xfrm>
            <a:off x="960120" y="164592"/>
            <a:ext cx="187621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2400" b="1" dirty="0">
                <a:solidFill>
                  <a:srgbClr val="FFFFFF"/>
                </a:solidFill>
              </a:rPr>
              <a:t>Admin Paneli</a:t>
            </a:r>
          </a:p>
        </p:txBody>
      </p:sp>
      <p:sp>
        <p:nvSpPr>
          <p:cNvPr id="77" name="Rounded Rectangle 9">
            <a:extLst>
              <a:ext uri="{FF2B5EF4-FFF2-40B4-BE49-F238E27FC236}">
                <a16:creationId xmlns:a16="http://schemas.microsoft.com/office/drawing/2014/main" id="{8CDC310D-8ABB-E947-19E4-A50476EA0189}"/>
              </a:ext>
            </a:extLst>
          </p:cNvPr>
          <p:cNvSpPr/>
          <p:nvPr/>
        </p:nvSpPr>
        <p:spPr>
          <a:xfrm>
            <a:off x="190227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dirty="0"/>
              <a:t>Admin Panel Ekranı</a:t>
            </a:r>
            <a:endParaRPr lang="tr-TR" sz="1000" b="1" dirty="0">
              <a:solidFill>
                <a:srgbClr val="5A6A7A"/>
              </a:solidFill>
            </a:endParaRPr>
          </a:p>
        </p:txBody>
      </p:sp>
      <p:sp>
        <p:nvSpPr>
          <p:cNvPr id="78" name="Rounded Rectangle 10">
            <a:extLst>
              <a:ext uri="{FF2B5EF4-FFF2-40B4-BE49-F238E27FC236}">
                <a16:creationId xmlns:a16="http://schemas.microsoft.com/office/drawing/2014/main" id="{53E57DCB-9E0F-B6DA-903A-9558379EA651}"/>
              </a:ext>
            </a:extLst>
          </p:cNvPr>
          <p:cNvSpPr/>
          <p:nvPr/>
        </p:nvSpPr>
        <p:spPr>
          <a:xfrm>
            <a:off x="190227" y="166420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ounded Rectangle 13">
            <a:extLst>
              <a:ext uri="{FF2B5EF4-FFF2-40B4-BE49-F238E27FC236}">
                <a16:creationId xmlns:a16="http://schemas.microsoft.com/office/drawing/2014/main" id="{C678CB91-0DD0-CA5D-22DF-16834C0AE78A}"/>
              </a:ext>
            </a:extLst>
          </p:cNvPr>
          <p:cNvSpPr/>
          <p:nvPr/>
        </p:nvSpPr>
        <p:spPr>
          <a:xfrm>
            <a:off x="2731622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000" b="1" dirty="0"/>
              <a:t> </a:t>
            </a:r>
          </a:p>
          <a:p>
            <a:r>
              <a:rPr lang="tr-TR" sz="1000" b="1" dirty="0"/>
              <a:t>                  Kupon Ata Ekranı</a:t>
            </a:r>
          </a:p>
          <a:p>
            <a:endParaRPr lang="tr-TR" sz="1000" b="1" dirty="0"/>
          </a:p>
        </p:txBody>
      </p:sp>
      <p:sp>
        <p:nvSpPr>
          <p:cNvPr id="81" name="Rounded Rectangle 14">
            <a:extLst>
              <a:ext uri="{FF2B5EF4-FFF2-40B4-BE49-F238E27FC236}">
                <a16:creationId xmlns:a16="http://schemas.microsoft.com/office/drawing/2014/main" id="{E4AC2B2B-2E7A-A9B9-615E-3456665C5E13}"/>
              </a:ext>
            </a:extLst>
          </p:cNvPr>
          <p:cNvSpPr/>
          <p:nvPr/>
        </p:nvSpPr>
        <p:spPr>
          <a:xfrm>
            <a:off x="2688014" y="1688837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2" name="Rounded Rectangle 17">
            <a:extLst>
              <a:ext uri="{FF2B5EF4-FFF2-40B4-BE49-F238E27FC236}">
                <a16:creationId xmlns:a16="http://schemas.microsoft.com/office/drawing/2014/main" id="{2DDC48C2-89FC-697C-E1F1-9E9064EA033B}"/>
              </a:ext>
            </a:extLst>
          </p:cNvPr>
          <p:cNvSpPr/>
          <p:nvPr/>
        </p:nvSpPr>
        <p:spPr>
          <a:xfrm>
            <a:off x="5163730" y="5544780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tr-TR" sz="1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	Pastane Yönetim Ekranı</a:t>
            </a:r>
          </a:p>
        </p:txBody>
      </p:sp>
      <p:sp>
        <p:nvSpPr>
          <p:cNvPr id="83" name="Rounded Rectangle 18">
            <a:extLst>
              <a:ext uri="{FF2B5EF4-FFF2-40B4-BE49-F238E27FC236}">
                <a16:creationId xmlns:a16="http://schemas.microsoft.com/office/drawing/2014/main" id="{14FCABCC-A549-B841-D673-0034796767E9}"/>
              </a:ext>
            </a:extLst>
          </p:cNvPr>
          <p:cNvSpPr/>
          <p:nvPr/>
        </p:nvSpPr>
        <p:spPr>
          <a:xfrm>
            <a:off x="5060457" y="1719072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ounded Rectangle 21">
            <a:extLst>
              <a:ext uri="{FF2B5EF4-FFF2-40B4-BE49-F238E27FC236}">
                <a16:creationId xmlns:a16="http://schemas.microsoft.com/office/drawing/2014/main" id="{D5F3B388-8866-960D-2220-82842A5A8721}"/>
              </a:ext>
            </a:extLst>
          </p:cNvPr>
          <p:cNvSpPr/>
          <p:nvPr/>
        </p:nvSpPr>
        <p:spPr>
          <a:xfrm>
            <a:off x="9962893" y="5539176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r-TR" sz="1000" b="1" dirty="0"/>
              <a:t>    Müşteri Geri Bildirimleri Ekranı</a:t>
            </a:r>
          </a:p>
        </p:txBody>
      </p:sp>
      <p:sp>
        <p:nvSpPr>
          <p:cNvPr id="85" name="Rounded Rectangle 22">
            <a:extLst>
              <a:ext uri="{FF2B5EF4-FFF2-40B4-BE49-F238E27FC236}">
                <a16:creationId xmlns:a16="http://schemas.microsoft.com/office/drawing/2014/main" id="{CA7EA3EF-A976-4C00-758B-64FAC37480FF}"/>
              </a:ext>
            </a:extLst>
          </p:cNvPr>
          <p:cNvSpPr/>
          <p:nvPr/>
        </p:nvSpPr>
        <p:spPr>
          <a:xfrm>
            <a:off x="7442929" y="1728216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ounded Rectangle 10">
            <a:extLst>
              <a:ext uri="{FF2B5EF4-FFF2-40B4-BE49-F238E27FC236}">
                <a16:creationId xmlns:a16="http://schemas.microsoft.com/office/drawing/2014/main" id="{EE85096B-6136-E883-1DF2-FCE906504302}"/>
              </a:ext>
            </a:extLst>
          </p:cNvPr>
          <p:cNvSpPr/>
          <p:nvPr/>
        </p:nvSpPr>
        <p:spPr>
          <a:xfrm>
            <a:off x="9912061" y="1709928"/>
            <a:ext cx="2221992" cy="3520440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ounded Rectangle 21">
            <a:extLst>
              <a:ext uri="{FF2B5EF4-FFF2-40B4-BE49-F238E27FC236}">
                <a16:creationId xmlns:a16="http://schemas.microsoft.com/office/drawing/2014/main" id="{4C9228BF-EADC-E70E-B1DC-155C6BC8391B}"/>
              </a:ext>
            </a:extLst>
          </p:cNvPr>
          <p:cNvSpPr/>
          <p:nvPr/>
        </p:nvSpPr>
        <p:spPr>
          <a:xfrm>
            <a:off x="7565791" y="5544714"/>
            <a:ext cx="2221992" cy="347472"/>
          </a:xfrm>
          <a:prstGeom prst="roundRect">
            <a:avLst/>
          </a:prstGeom>
          <a:solidFill>
            <a:srgbClr val="EB5F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000" b="1" i="0" dirty="0">
                <a:solidFill>
                  <a:srgbClr val="FFFFFF"/>
                </a:solidFill>
                <a:latin typeface="Calibri"/>
              </a:rPr>
              <a:t>Sipariş ve Finans Ekranı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92" name="Picture 140">
            <a:extLst>
              <a:ext uri="{FF2B5EF4-FFF2-40B4-BE49-F238E27FC236}">
                <a16:creationId xmlns:a16="http://schemas.microsoft.com/office/drawing/2014/main" id="{F5CE2C34-5CF8-618D-70F2-882DEEF9DB4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088" y="1983295"/>
            <a:ext cx="1899920" cy="2973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Picture 142">
            <a:extLst>
              <a:ext uri="{FF2B5EF4-FFF2-40B4-BE49-F238E27FC236}">
                <a16:creationId xmlns:a16="http://schemas.microsoft.com/office/drawing/2014/main" id="{1AE16883-1884-573B-4089-184883E173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825" y="2001583"/>
            <a:ext cx="1934210" cy="2973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Picture 146">
            <a:extLst>
              <a:ext uri="{FF2B5EF4-FFF2-40B4-BE49-F238E27FC236}">
                <a16:creationId xmlns:a16="http://schemas.microsoft.com/office/drawing/2014/main" id="{7B0DA478-5487-056E-924E-13EC292CD4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4665" y="2050661"/>
            <a:ext cx="1933575" cy="2973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Picture 148">
            <a:extLst>
              <a:ext uri="{FF2B5EF4-FFF2-40B4-BE49-F238E27FC236}">
                <a16:creationId xmlns:a16="http://schemas.microsoft.com/office/drawing/2014/main" id="{FA09E65C-05CD-BB37-A892-C3E1C36368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067" y="2020888"/>
            <a:ext cx="1984375" cy="29737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Picture 150">
            <a:extLst>
              <a:ext uri="{FF2B5EF4-FFF2-40B4-BE49-F238E27FC236}">
                <a16:creationId xmlns:a16="http://schemas.microsoft.com/office/drawing/2014/main" id="{3D2F80F2-F531-9179-3612-E0D32D2CE8F1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013" y="2001583"/>
            <a:ext cx="1889760" cy="30718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Veritabanı Tasarımı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601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A6A7A"/>
                </a:solidFill>
                <a:latin typeface="Calibri"/>
              </a:rPr>
              <a:t>Varlık-İlişki (E-R) Diyagramı – Tüm tablo ilişkileri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Users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Restaurants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MenuItems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0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CustomerOrders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49240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CustomerCartItems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79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Coupons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19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Campaigns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59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CourierLocationLogs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86999" y="1353312"/>
            <a:ext cx="1170432" cy="292608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Calibri"/>
              </a:rPr>
              <a:t>Notifications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2441" y="6511708"/>
            <a:ext cx="3222357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5A6A7A"/>
                </a:solidFill>
                <a:latin typeface="Calibri"/>
              </a:rPr>
              <a:t>Users </a:t>
            </a:r>
            <a:r>
              <a:rPr sz="1100" b="1" dirty="0" err="1">
                <a:solidFill>
                  <a:srgbClr val="5A6A7A"/>
                </a:solidFill>
                <a:latin typeface="Calibri"/>
              </a:rPr>
              <a:t>merkezli</a:t>
            </a:r>
            <a:r>
              <a:rPr sz="1100" b="1" dirty="0">
                <a:solidFill>
                  <a:srgbClr val="5A6A7A"/>
                </a:solidFill>
                <a:latin typeface="Calibri"/>
              </a:rPr>
              <a:t> </a:t>
            </a:r>
            <a:r>
              <a:rPr sz="1100" b="1" dirty="0" err="1">
                <a:solidFill>
                  <a:srgbClr val="5A6A7A"/>
                </a:solidFill>
                <a:latin typeface="Calibri"/>
              </a:rPr>
              <a:t>ilişkisel</a:t>
            </a:r>
            <a:r>
              <a:rPr sz="1100" b="1" dirty="0">
                <a:solidFill>
                  <a:srgbClr val="5A6A7A"/>
                </a:solidFill>
                <a:latin typeface="Calibri"/>
              </a:rPr>
              <a:t> model (SQL Server + EF Core)</a:t>
            </a:r>
          </a:p>
        </p:txBody>
      </p:sp>
      <p:pic>
        <p:nvPicPr>
          <p:cNvPr id="20" name="Picture 112">
            <a:extLst>
              <a:ext uri="{FF2B5EF4-FFF2-40B4-BE49-F238E27FC236}">
                <a16:creationId xmlns:a16="http://schemas.microsoft.com/office/drawing/2014/main" id="{68CA5364-ABA3-C71C-27EE-AD42A47A1C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2"/>
          <a:stretch>
            <a:fillRect/>
          </a:stretch>
        </p:blipFill>
        <p:spPr bwMode="auto">
          <a:xfrm>
            <a:off x="253953" y="1825408"/>
            <a:ext cx="11593918" cy="46588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Calibri"/>
              </a:rPr>
              <a:t>Test Süreçleri ve Sonuçları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7879842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A7A"/>
                </a:solidFill>
                <a:latin typeface="Calibri"/>
              </a:rPr>
              <a:t>Sipariş takibi</a:t>
            </a:r>
          </a:p>
        </p:txBody>
      </p:sp>
      <p:pic>
        <p:nvPicPr>
          <p:cNvPr id="31" name="Resim 30">
            <a:extLst>
              <a:ext uri="{FF2B5EF4-FFF2-40B4-BE49-F238E27FC236}">
                <a16:creationId xmlns:a16="http://schemas.microsoft.com/office/drawing/2014/main" id="{C36692B1-B1A9-779B-6415-26CA8B1FB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078" y="1415844"/>
            <a:ext cx="10779843" cy="477847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" y="914400"/>
            <a:ext cx="12191695" cy="5943600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6012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 err="1">
                <a:solidFill>
                  <a:srgbClr val="FFFFFF"/>
                </a:solidFill>
                <a:latin typeface="Calibri"/>
              </a:rPr>
              <a:t>Kullanıcı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Anket</a:t>
            </a:r>
            <a:r>
              <a:rPr sz="26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600" b="1" dirty="0" err="1">
                <a:solidFill>
                  <a:srgbClr val="FFFFFF"/>
                </a:solidFill>
                <a:latin typeface="Calibri"/>
              </a:rPr>
              <a:t>Sonuçları</a:t>
            </a:r>
            <a:endParaRPr sz="2600" b="1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A4512D43-FEB0-BE62-8176-FBB8510EE5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" y="893826"/>
            <a:ext cx="8023125" cy="5852160"/>
          </a:xfrm>
          <a:prstGeom prst="rect">
            <a:avLst/>
          </a:prstGeom>
        </p:spPr>
      </p:pic>
      <p:sp>
        <p:nvSpPr>
          <p:cNvPr id="27" name="Rounded Rectangle 10">
            <a:extLst>
              <a:ext uri="{FF2B5EF4-FFF2-40B4-BE49-F238E27FC236}">
                <a16:creationId xmlns:a16="http://schemas.microsoft.com/office/drawing/2014/main" id="{856B967E-FAE7-6E17-7862-180E4EBE5050}"/>
              </a:ext>
            </a:extLst>
          </p:cNvPr>
          <p:cNvSpPr/>
          <p:nvPr/>
        </p:nvSpPr>
        <p:spPr>
          <a:xfrm>
            <a:off x="8412384" y="1225246"/>
            <a:ext cx="2855384" cy="4860922"/>
          </a:xfrm>
          <a:prstGeom prst="roundRect">
            <a:avLst/>
          </a:prstGeom>
          <a:solidFill>
            <a:srgbClr val="FDF0F2"/>
          </a:solidFill>
          <a:ln>
            <a:solidFill>
              <a:srgbClr val="FFD6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6" name="Resim 15">
            <a:extLst>
              <a:ext uri="{FF2B5EF4-FFF2-40B4-BE49-F238E27FC236}">
                <a16:creationId xmlns:a16="http://schemas.microsoft.com/office/drawing/2014/main" id="{F5A38D0D-8007-45FD-C2B4-CA1E30401CC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7832" y="1495068"/>
            <a:ext cx="2809936" cy="43212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AF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643208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tr-TR" sz="2600" b="1" dirty="0">
                <a:solidFill>
                  <a:schemeClr val="bg1"/>
                </a:solidFill>
              </a:rPr>
              <a:t>Proje Değerlendirmesi ve Gelecek Çalışmalar</a:t>
            </a:r>
            <a:r>
              <a:rPr lang="tr-TR" sz="2600" dirty="0">
                <a:solidFill>
                  <a:schemeClr val="bg1"/>
                </a:solidFill>
              </a:rPr>
              <a:t> </a:t>
            </a:r>
            <a:endParaRPr lang="tr-TR" sz="2600" b="1" dirty="0">
              <a:solidFill>
                <a:schemeClr val="bg1"/>
              </a:solidFill>
              <a:latin typeface="Calibri"/>
            </a:endParaRPr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6A89B080-99FC-702E-43F7-1D5B0FFB3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68680"/>
            <a:ext cx="12191695" cy="5989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28578" y="1956620"/>
            <a:ext cx="7468390" cy="23391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endParaRPr sz="3400" b="1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sz="2000" b="0" dirty="0" err="1">
                <a:solidFill>
                  <a:srgbClr val="F4F6F9"/>
                </a:solidFill>
                <a:latin typeface="Calibri"/>
              </a:rPr>
              <a:t>Pastane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sipariş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süreci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uçtan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uca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dijitalleştirildi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.</a:t>
            </a:r>
          </a:p>
          <a:p>
            <a:pPr algn="ctr"/>
            <a:r>
              <a:rPr sz="2000" b="0" dirty="0">
                <a:solidFill>
                  <a:srgbClr val="F4F6F9"/>
                </a:solidFill>
                <a:latin typeface="Calibri"/>
              </a:rPr>
              <a:t>4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rollü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platform,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gerçek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zamanlı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takip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ve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modüler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mimari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 </a:t>
            </a:r>
            <a:r>
              <a:rPr sz="2000" b="0" dirty="0" err="1">
                <a:solidFill>
                  <a:srgbClr val="F4F6F9"/>
                </a:solidFill>
                <a:latin typeface="Calibri"/>
              </a:rPr>
              <a:t>tamamlandı</a:t>
            </a:r>
            <a:r>
              <a:rPr sz="2000" b="0" dirty="0">
                <a:solidFill>
                  <a:srgbClr val="F4F6F9"/>
                </a:solidFill>
                <a:latin typeface="Calibri"/>
              </a:rPr>
              <a:t>.</a:t>
            </a:r>
          </a:p>
          <a:p>
            <a:pPr algn="ctr"/>
            <a:endParaRPr sz="2000" b="0" dirty="0">
              <a:solidFill>
                <a:srgbClr val="F4F6F9"/>
              </a:solidFill>
              <a:latin typeface="Calibri"/>
            </a:endParaRPr>
          </a:p>
          <a:p>
            <a:pPr algn="ctr"/>
            <a:r>
              <a:rPr sz="3000" b="1" dirty="0">
                <a:solidFill>
                  <a:srgbClr val="EB5F73"/>
                </a:solidFill>
                <a:latin typeface="Calibri"/>
              </a:rPr>
              <a:t>DİNLEDİĞİNİZ İÇİN TEŞEKKÜR EDERİZ</a:t>
            </a:r>
          </a:p>
          <a:p>
            <a:pPr algn="ctr"/>
            <a:r>
              <a:rPr sz="2200" b="0" dirty="0" err="1">
                <a:solidFill>
                  <a:srgbClr val="FFFFFF"/>
                </a:solidFill>
                <a:latin typeface="Calibri"/>
              </a:rPr>
              <a:t>Sorularınız</a:t>
            </a:r>
            <a:r>
              <a:rPr sz="2200" b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Geniş ekran</PresentationFormat>
  <Paragraphs>77</Paragraphs>
  <Slides>14</Slides>
  <Notes>9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MONSTER</dc:creator>
  <cp:keywords/>
  <dc:description>generated using python-pptx</dc:description>
  <cp:lastModifiedBy>Beyza Yılmaz</cp:lastModifiedBy>
  <cp:revision>6</cp:revision>
  <dcterms:created xsi:type="dcterms:W3CDTF">2013-01-27T09:14:16Z</dcterms:created>
  <dcterms:modified xsi:type="dcterms:W3CDTF">2026-06-20T23:30:51Z</dcterms:modified>
  <cp:category/>
</cp:coreProperties>
</file>